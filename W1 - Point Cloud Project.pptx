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slide" Target="slides/slide42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4e062c25e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4e062c25e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44fb141d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44fb141d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5b9716d4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5b9716d4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44fb141d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44fb141d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44fb141d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44fb141d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4db7fa25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4db7fa25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44fb141d1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44fb141d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44fb141d1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44fb141d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44fb141d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44fb141d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4e062c25e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4e062c25e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4fb141d1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44fb141d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44fb141d1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44fb141d1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44fb141d1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44fb141d1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4e062c25e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e4e062c25e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44fb141d1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e44fb141d1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5b9716d4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e5b9716d4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44fb141d1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44fb141d1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44fb141d1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e44fb141d1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44fb141d1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44fb141d1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44fb141d1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e44fb141d1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44fb141d1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e44fb141d1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44fb141d1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e44fb141d1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5d90bec7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e5d90bec7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55fe91a3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e55fe91a3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e4e062c25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e4e062c25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e55fe91a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e55fe91a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55fe91a3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e55fe91a3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44fb141d1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e44fb141d1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44fb141d1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e44fb141d1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e44fb141d1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e44fb141d1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44fb141d1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e44fb141d1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e44fb141d1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e44fb141d1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44fb141d1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e44fb141d1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44fb141d1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e44fb141d1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e4e062c2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e4e062c2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e4e062c25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e4e062c25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e4e062c25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e4e062c25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4e062c25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e4e062c25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4e062c25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e4e062c25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e4e062c25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e4e062c25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5b9716d4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e5b9716d4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0.png"/><Relationship Id="rId4" Type="http://schemas.openxmlformats.org/officeDocument/2006/relationships/image" Target="../media/image17.png"/><Relationship Id="rId5" Type="http://schemas.openxmlformats.org/officeDocument/2006/relationships/image" Target="../media/image31.png"/><Relationship Id="rId6" Type="http://schemas.openxmlformats.org/officeDocument/2006/relationships/image" Target="../media/image2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Cloud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point cloud?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Defn: </a:t>
            </a:r>
            <a:r>
              <a:rPr lang="en" u="sng"/>
              <a:t>collection</a:t>
            </a:r>
            <a:r>
              <a:rPr lang="en"/>
              <a:t> of data points plotted in a 3D coordinate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created through LiDAR(laser scanning), photogrammetry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often contain additional data to coordinates (color, intensity etc.)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9650" y="3011597"/>
            <a:ext cx="6240351" cy="748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14"/>
          <p:cNvCxnSpPr/>
          <p:nvPr/>
        </p:nvCxnSpPr>
        <p:spPr>
          <a:xfrm flipH="1" rot="10800000">
            <a:off x="1587500" y="1135175"/>
            <a:ext cx="279000" cy="7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" name="Google Shape;64;p14"/>
          <p:cNvSpPr txBox="1"/>
          <p:nvPr/>
        </p:nvSpPr>
        <p:spPr>
          <a:xfrm>
            <a:off x="1864187" y="993114"/>
            <a:ext cx="959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unordered</a:t>
            </a:r>
            <a:endParaRPr sz="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439700" y="193025"/>
            <a:ext cx="150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PointNet</a:t>
            </a:r>
            <a:endParaRPr/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6075900" y="193025"/>
            <a:ext cx="197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PointNet++</a:t>
            </a:r>
            <a:endParaRPr/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3168000" y="2793425"/>
            <a:ext cx="290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Transformer</a:t>
            </a:r>
            <a:endParaRPr/>
          </a:p>
        </p:txBody>
      </p:sp>
      <p:cxnSp>
        <p:nvCxnSpPr>
          <p:cNvPr id="72" name="Google Shape;72;p15"/>
          <p:cNvCxnSpPr/>
          <p:nvPr/>
        </p:nvCxnSpPr>
        <p:spPr>
          <a:xfrm>
            <a:off x="-6000" y="2571750"/>
            <a:ext cx="9156000" cy="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15"/>
          <p:cNvCxnSpPr/>
          <p:nvPr/>
        </p:nvCxnSpPr>
        <p:spPr>
          <a:xfrm flipH="1">
            <a:off x="4548000" y="-12000"/>
            <a:ext cx="12000" cy="259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15"/>
          <p:cNvSpPr txBox="1"/>
          <p:nvPr/>
        </p:nvSpPr>
        <p:spPr>
          <a:xfrm>
            <a:off x="314550" y="1332573"/>
            <a:ext cx="3750600" cy="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Problem: unordered input, geometric transformations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14550" y="1796825"/>
            <a:ext cx="35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Method: max pooling, alignment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5042850" y="782975"/>
            <a:ext cx="340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Problem: PointNet does not capture local structure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5042850" y="1493225"/>
            <a:ext cx="37506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Method: hierarchical local features,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set abstraction layers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395400" y="3683625"/>
            <a:ext cx="85725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Idea: </a:t>
            </a:r>
            <a:r>
              <a:rPr lang="en" sz="1800">
                <a:solidFill>
                  <a:schemeClr val="dk2"/>
                </a:solidFill>
              </a:rPr>
              <a:t>unordered input(set) ~ self attention(learns relations between set elements)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203278" y="555050"/>
            <a:ext cx="7863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same group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4312950" y="431475"/>
            <a:ext cx="482100" cy="2130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314550" y="850550"/>
            <a:ext cx="3750600" cy="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rgbClr val="FFFF00"/>
                </a:highlight>
              </a:rPr>
              <a:t>Goal: processing raw point cloud directly without converting it to voxel/image</a:t>
            </a:r>
            <a:endParaRPr>
              <a:solidFill>
                <a:schemeClr val="dk2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voxel?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memory cost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fine grained detail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inefficiency bcs. of empty space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…</a:t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0825" y="2520775"/>
            <a:ext cx="6252450" cy="225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836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7"/>
          <p:cNvCxnSpPr/>
          <p:nvPr/>
        </p:nvCxnSpPr>
        <p:spPr>
          <a:xfrm flipH="1" rot="10800000">
            <a:off x="5829300" y="621025"/>
            <a:ext cx="797100" cy="31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7"/>
          <p:cNvSpPr txBox="1"/>
          <p:nvPr/>
        </p:nvSpPr>
        <p:spPr>
          <a:xfrm>
            <a:off x="6579984" y="370714"/>
            <a:ext cx="14271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before Pointnet, they converted 3D data into other types to be compatible with CNNs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137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PointNet++</a:t>
            </a:r>
            <a:endParaRPr sz="2200"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604075"/>
            <a:ext cx="6558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Problem: f</a:t>
            </a:r>
            <a:r>
              <a:rPr lang="en" sz="1500">
                <a:solidFill>
                  <a:srgbClr val="000000"/>
                </a:solidFill>
              </a:rPr>
              <a:t>eature extractions for Pointnet do not capture local structure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Method: set abstractions, hierarchical learning</a:t>
            </a:r>
            <a:endParaRPr sz="1500">
              <a:solidFill>
                <a:srgbClr val="000000"/>
              </a:solidFill>
            </a:endParaRPr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325" y="1352150"/>
            <a:ext cx="6619402" cy="367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18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Point Transformer</a:t>
            </a:r>
            <a:endParaRPr sz="2200"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681025"/>
            <a:ext cx="7606500" cy="12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Problem: </a:t>
            </a:r>
            <a:r>
              <a:rPr lang="en" sz="1500"/>
              <a:t>learn features respecting local geometry + relationships between neighboring points(maxpooling x)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Method: attention to decide how much each neighbor should contribute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425" y="1382550"/>
            <a:ext cx="7169351" cy="361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Cloud Registration</a:t>
            </a:r>
            <a:endParaRPr/>
          </a:p>
        </p:txBody>
      </p:sp>
      <p:sp>
        <p:nvSpPr>
          <p:cNvPr id="115" name="Google Shape;11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Defn: aligning two or more point clouds into the same coordinate system</a:t>
            </a:r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2800" y="3663675"/>
            <a:ext cx="2438400" cy="876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" name="Google Shape;117;p20"/>
          <p:cNvCxnSpPr/>
          <p:nvPr/>
        </p:nvCxnSpPr>
        <p:spPr>
          <a:xfrm>
            <a:off x="4416125" y="4318725"/>
            <a:ext cx="2058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20"/>
          <p:cNvCxnSpPr/>
          <p:nvPr/>
        </p:nvCxnSpPr>
        <p:spPr>
          <a:xfrm>
            <a:off x="5185500" y="4318725"/>
            <a:ext cx="2058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20"/>
          <p:cNvCxnSpPr/>
          <p:nvPr/>
        </p:nvCxnSpPr>
        <p:spPr>
          <a:xfrm>
            <a:off x="4740850" y="4307900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20"/>
          <p:cNvCxnSpPr/>
          <p:nvPr/>
        </p:nvCxnSpPr>
        <p:spPr>
          <a:xfrm>
            <a:off x="3865000" y="4318725"/>
            <a:ext cx="0" cy="400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p20"/>
          <p:cNvSpPr txBox="1"/>
          <p:nvPr/>
        </p:nvSpPr>
        <p:spPr>
          <a:xfrm>
            <a:off x="4313110" y="4643458"/>
            <a:ext cx="10131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point in the first point cloud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3358460" y="4643458"/>
            <a:ext cx="10131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corr. </a:t>
            </a:r>
            <a:r>
              <a:rPr lang="en" sz="800">
                <a:solidFill>
                  <a:schemeClr val="dk2"/>
                </a:solidFill>
              </a:rPr>
              <a:t>point in the second point cloud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3" name="Google Shape;123;p20"/>
          <p:cNvSpPr txBox="1"/>
          <p:nvPr>
            <p:ph idx="1" type="subTitle"/>
          </p:nvPr>
        </p:nvSpPr>
        <p:spPr>
          <a:xfrm>
            <a:off x="5022275" y="3738788"/>
            <a:ext cx="4464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RANSAC?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Google Shape;128;p21"/>
          <p:cNvCxnSpPr/>
          <p:nvPr/>
        </p:nvCxnSpPr>
        <p:spPr>
          <a:xfrm>
            <a:off x="-6000" y="2571750"/>
            <a:ext cx="9156000" cy="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21"/>
          <p:cNvCxnSpPr/>
          <p:nvPr/>
        </p:nvCxnSpPr>
        <p:spPr>
          <a:xfrm flipH="1">
            <a:off x="4545900" y="-12000"/>
            <a:ext cx="14100" cy="53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21"/>
          <p:cNvSpPr txBox="1"/>
          <p:nvPr/>
        </p:nvSpPr>
        <p:spPr>
          <a:xfrm>
            <a:off x="1017450" y="216475"/>
            <a:ext cx="25869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FCGF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6083025" y="216475"/>
            <a:ext cx="23271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PREDATOR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1104150" y="2922450"/>
            <a:ext cx="2500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GeoTransformer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5855700" y="2922450"/>
            <a:ext cx="2327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Deep Closest Point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4632625" y="736025"/>
            <a:ext cx="45114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u="sng">
                <a:solidFill>
                  <a:schemeClr val="dk2"/>
                </a:solidFill>
              </a:rPr>
              <a:t>low overlap</a:t>
            </a:r>
            <a:r>
              <a:rPr lang="en">
                <a:solidFill>
                  <a:schemeClr val="dk2"/>
                </a:solidFill>
              </a:rPr>
              <a:t> regions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new benchmark 3DLoMatch from 3DMatch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overlap-attention block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220225" y="3322950"/>
            <a:ext cx="45114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keypoint free (patch level matching)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pair-wise distances and triplet-wise angles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721600" y="846675"/>
            <a:ext cx="13662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55200" y="736025"/>
            <a:ext cx="45114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Goal: geometric </a:t>
            </a:r>
            <a:r>
              <a:rPr lang="en" u="sng">
                <a:solidFill>
                  <a:schemeClr val="dk2"/>
                </a:solidFill>
              </a:rPr>
              <a:t>feature extraction</a:t>
            </a:r>
            <a:r>
              <a:rPr lang="en">
                <a:solidFill>
                  <a:schemeClr val="dk2"/>
                </a:solidFill>
              </a:rPr>
              <a:t> for registration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Problem: learning based representations are slow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Method: sparse 3D fully convolutional network, single pass,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do not directly make classification/semantic segmentation, find matches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4763550" y="3322950"/>
            <a:ext cx="45114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soft learning correspondances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rigid transformation via SVD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Fully Convolutional Geometric Features</a:t>
            </a:r>
            <a:endParaRPr sz="2500"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geometric feature extraction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 not directly make classification/semantic segmentation, find matches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32 dimensional feature vector for every point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Problem: </a:t>
            </a:r>
            <a:r>
              <a:rPr lang="en"/>
              <a:t>handcrafted</a:t>
            </a:r>
            <a:r>
              <a:rPr lang="en"/>
              <a:t> 3D features, </a:t>
            </a:r>
            <a:r>
              <a:rPr lang="en"/>
              <a:t>learning</a:t>
            </a:r>
            <a:r>
              <a:rPr lang="en"/>
              <a:t> based patch descriptors(slow, limited receptive field)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 </a:t>
            </a:r>
            <a:r>
              <a:rPr lang="en"/>
              <a:t>point → patch → network → feature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Method: Fully Convolutional Geometric Features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whole</a:t>
            </a:r>
            <a:r>
              <a:rPr lang="en"/>
              <a:t> scan → one forward pass → feature for all points</a:t>
            </a:r>
            <a:endParaRPr/>
          </a:p>
        </p:txBody>
      </p:sp>
      <p:cxnSp>
        <p:nvCxnSpPr>
          <p:cNvPr id="145" name="Google Shape;145;p22"/>
          <p:cNvCxnSpPr/>
          <p:nvPr/>
        </p:nvCxnSpPr>
        <p:spPr>
          <a:xfrm>
            <a:off x="3941075" y="1398175"/>
            <a:ext cx="13371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22"/>
          <p:cNvSpPr txBox="1"/>
          <p:nvPr/>
        </p:nvSpPr>
        <p:spPr>
          <a:xfrm>
            <a:off x="7550100" y="410700"/>
            <a:ext cx="6204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5382925" y="1152475"/>
            <a:ext cx="672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patch based before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5958675" y="1302025"/>
            <a:ext cx="17190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computing </a:t>
            </a:r>
            <a:r>
              <a:rPr lang="en" sz="800">
                <a:solidFill>
                  <a:schemeClr val="dk2"/>
                </a:solidFill>
              </a:rPr>
              <a:t>features</a:t>
            </a:r>
            <a:r>
              <a:rPr lang="en" sz="800">
                <a:solidFill>
                  <a:schemeClr val="dk2"/>
                </a:solidFill>
              </a:rPr>
              <a:t> </a:t>
            </a:r>
            <a:r>
              <a:rPr lang="en" sz="800">
                <a:solidFill>
                  <a:schemeClr val="dk2"/>
                </a:solidFill>
              </a:rPr>
              <a:t>separately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375" y="1000125"/>
            <a:ext cx="847725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ResUNet</a:t>
            </a:r>
            <a:endParaRPr sz="2500"/>
          </a:p>
        </p:txBody>
      </p:sp>
      <p:sp>
        <p:nvSpPr>
          <p:cNvPr id="155" name="Google Shape;155;p23"/>
          <p:cNvSpPr txBox="1"/>
          <p:nvPr/>
        </p:nvSpPr>
        <p:spPr>
          <a:xfrm>
            <a:off x="558025" y="3973550"/>
            <a:ext cx="135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voxel grid,</a:t>
            </a:r>
            <a:endParaRPr sz="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sparse tensor</a:t>
            </a:r>
            <a:endParaRPr sz="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PREDATOR</a:t>
            </a:r>
            <a:endParaRPr/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Problem: hard to find true matches when there is few overlap (eg. %10–30)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Method: find overlap region, focus on that region while finding keypoints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overlap-attention block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Output: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1. Feature descriptor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 Overlap score -&gt; points that are not in the overlap region may be useless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3. Matchability score -&gt; very similar, matching is hard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4428"/>
            <a:ext cx="9144001" cy="443464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/>
          <p:cNvSpPr txBox="1"/>
          <p:nvPr/>
        </p:nvSpPr>
        <p:spPr>
          <a:xfrm>
            <a:off x="2944100" y="1807600"/>
            <a:ext cx="10824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superpoints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2944100" y="3464500"/>
            <a:ext cx="10824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superpoints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71" name="Google Shape;171;p25"/>
          <p:cNvSpPr txBox="1"/>
          <p:nvPr/>
        </p:nvSpPr>
        <p:spPr>
          <a:xfrm rot="-5400000">
            <a:off x="2559325" y="252125"/>
            <a:ext cx="4173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}</a:t>
            </a:r>
            <a:endParaRPr sz="4000">
              <a:solidFill>
                <a:schemeClr val="dk2"/>
              </a:solidFill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31075" y="260650"/>
            <a:ext cx="10824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encoder</a:t>
            </a:r>
            <a:endParaRPr sz="800">
              <a:solidFill>
                <a:srgbClr val="FF0000"/>
              </a:solidFill>
            </a:endParaRPr>
          </a:p>
        </p:txBody>
      </p:sp>
      <p:cxnSp>
        <p:nvCxnSpPr>
          <p:cNvPr id="173" name="Google Shape;173;p25"/>
          <p:cNvCxnSpPr/>
          <p:nvPr/>
        </p:nvCxnSpPr>
        <p:spPr>
          <a:xfrm flipH="1" rot="10800000">
            <a:off x="3539400" y="324725"/>
            <a:ext cx="454500" cy="8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" name="Google Shape;174;p25"/>
          <p:cNvSpPr txBox="1"/>
          <p:nvPr/>
        </p:nvSpPr>
        <p:spPr>
          <a:xfrm>
            <a:off x="3713475" y="76925"/>
            <a:ext cx="35709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latent features: feature vector that model learns per every superpoint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5655825" y="1680700"/>
            <a:ext cx="4173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}</a:t>
            </a:r>
            <a:endParaRPr sz="4000">
              <a:solidFill>
                <a:schemeClr val="dk2"/>
              </a:solidFill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5954850" y="1934500"/>
            <a:ext cx="10824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overlap attention block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77" name="Google Shape;177;p25"/>
          <p:cNvSpPr txBox="1"/>
          <p:nvPr/>
        </p:nvSpPr>
        <p:spPr>
          <a:xfrm>
            <a:off x="4211757" y="516912"/>
            <a:ext cx="9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geometric</a:t>
            </a:r>
            <a:r>
              <a:rPr lang="en" sz="600">
                <a:solidFill>
                  <a:srgbClr val="FF0000"/>
                </a:solidFill>
              </a:rPr>
              <a:t> context inside the point cloud</a:t>
            </a:r>
            <a:endParaRPr sz="600">
              <a:solidFill>
                <a:srgbClr val="FF0000"/>
              </a:solidFill>
            </a:endParaRPr>
          </a:p>
        </p:txBody>
      </p:sp>
      <p:cxnSp>
        <p:nvCxnSpPr>
          <p:cNvPr id="178" name="Google Shape;178;p25"/>
          <p:cNvCxnSpPr/>
          <p:nvPr/>
        </p:nvCxnSpPr>
        <p:spPr>
          <a:xfrm>
            <a:off x="4969175" y="2120650"/>
            <a:ext cx="9000" cy="109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p25"/>
          <p:cNvSpPr txBox="1"/>
          <p:nvPr/>
        </p:nvSpPr>
        <p:spPr>
          <a:xfrm>
            <a:off x="4661858" y="3144950"/>
            <a:ext cx="75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soft </a:t>
            </a:r>
            <a:r>
              <a:rPr lang="en" sz="600">
                <a:solidFill>
                  <a:srgbClr val="FF0000"/>
                </a:solidFill>
              </a:rPr>
              <a:t>correspondence/attention weights</a:t>
            </a:r>
            <a:endParaRPr sz="600">
              <a:solidFill>
                <a:srgbClr val="FF0000"/>
              </a:solidFill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5822700" y="505175"/>
            <a:ext cx="134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m</a:t>
            </a:r>
            <a:r>
              <a:rPr lang="en" sz="600">
                <a:solidFill>
                  <a:srgbClr val="FF0000"/>
                </a:solidFill>
              </a:rPr>
              <a:t>ake a more consistent overlap estimate by including neighboring regions</a:t>
            </a:r>
            <a:endParaRPr sz="600">
              <a:solidFill>
                <a:srgbClr val="FF0000"/>
              </a:solidFill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6991000" y="517500"/>
            <a:ext cx="14556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-&gt; overlap aware latent features</a:t>
            </a:r>
            <a:endParaRPr sz="600">
              <a:solidFill>
                <a:srgbClr val="FF0000"/>
              </a:solidFill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7190009" y="76925"/>
            <a:ext cx="10824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d</a:t>
            </a:r>
            <a:r>
              <a:rPr lang="en" sz="800">
                <a:solidFill>
                  <a:srgbClr val="FF0000"/>
                </a:solidFill>
              </a:rPr>
              <a:t>ecoder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83" name="Google Shape;183;p25"/>
          <p:cNvSpPr txBox="1"/>
          <p:nvPr/>
        </p:nvSpPr>
        <p:spPr>
          <a:xfrm rot="-5400000">
            <a:off x="7139550" y="72050"/>
            <a:ext cx="4173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}</a:t>
            </a:r>
            <a:endParaRPr sz="4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GeoTransformer</a:t>
            </a:r>
            <a:endParaRPr/>
          </a:p>
        </p:txBody>
      </p:sp>
      <p:sp>
        <p:nvSpPr>
          <p:cNvPr id="189" name="Google Shape;18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vanilla transformer doesn't use the geometric structure of the point cloud clearly enough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Method: geometric structure embedding (pair-wise distances + triplet-wise angles)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correspondence</a:t>
            </a:r>
            <a:r>
              <a:rPr lang="en"/>
              <a:t> extraction, then estimating transformation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superpoints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51625"/>
            <a:ext cx="8839204" cy="3640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Cloud Completion</a:t>
            </a:r>
            <a:endParaRPr/>
          </a:p>
        </p:txBody>
      </p:sp>
      <p:sp>
        <p:nvSpPr>
          <p:cNvPr id="200" name="Google Shape;200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stimating the entire object/scene from an incomplete or partial point cloud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" name="Google Shape;205;p29"/>
          <p:cNvCxnSpPr/>
          <p:nvPr/>
        </p:nvCxnSpPr>
        <p:spPr>
          <a:xfrm flipH="1">
            <a:off x="4567350" y="5"/>
            <a:ext cx="9300" cy="516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9"/>
          <p:cNvCxnSpPr/>
          <p:nvPr/>
        </p:nvCxnSpPr>
        <p:spPr>
          <a:xfrm rot="10800000">
            <a:off x="-46250" y="2567375"/>
            <a:ext cx="92304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29"/>
          <p:cNvSpPr txBox="1"/>
          <p:nvPr/>
        </p:nvSpPr>
        <p:spPr>
          <a:xfrm>
            <a:off x="1927650" y="129750"/>
            <a:ext cx="685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PCN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8" name="Google Shape;208;p29"/>
          <p:cNvSpPr txBox="1"/>
          <p:nvPr/>
        </p:nvSpPr>
        <p:spPr>
          <a:xfrm>
            <a:off x="6408025" y="129750"/>
            <a:ext cx="12654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Pointr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9" name="Google Shape;209;p29"/>
          <p:cNvSpPr txBox="1"/>
          <p:nvPr/>
        </p:nvSpPr>
        <p:spPr>
          <a:xfrm>
            <a:off x="6217500" y="2788525"/>
            <a:ext cx="13635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AdaPointr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0" name="Google Shape;210;p29"/>
          <p:cNvSpPr txBox="1"/>
          <p:nvPr/>
        </p:nvSpPr>
        <p:spPr>
          <a:xfrm>
            <a:off x="1347900" y="2788525"/>
            <a:ext cx="1845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SnowflakeNet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1" name="Google Shape;211;p29"/>
          <p:cNvSpPr txBox="1"/>
          <p:nvPr/>
        </p:nvSpPr>
        <p:spPr>
          <a:xfrm>
            <a:off x="426300" y="704325"/>
            <a:ext cx="3669900" cy="15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Goal: using raw point clouds instead of voxels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encoder(global feature vector, i.e. extended Pointnet)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decoder(coarse-to-fine)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Limitation: loss of fine grained detail bcs. of compression to a single global vector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12" name="Google Shape;212;p29"/>
          <p:cNvSpPr txBox="1"/>
          <p:nvPr/>
        </p:nvSpPr>
        <p:spPr>
          <a:xfrm>
            <a:off x="5110550" y="704313"/>
            <a:ext cx="3669900" cy="15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keep local regions as proxy tokens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observed -&gt; Transformer(to reason) -&gt; missing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13" name="Google Shape;213;p29"/>
          <p:cNvSpPr txBox="1"/>
          <p:nvPr/>
        </p:nvSpPr>
        <p:spPr>
          <a:xfrm>
            <a:off x="5213800" y="33621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1"/>
                </a:solidFill>
              </a:rPr>
              <a:t>adaptive</a:t>
            </a:r>
            <a:r>
              <a:rPr b="1" lang="en" sz="1100">
                <a:solidFill>
                  <a:schemeClr val="dk1"/>
                </a:solidFill>
              </a:rPr>
              <a:t> query generation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denoising query task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214" name="Google Shape;214;p29"/>
          <p:cNvSpPr txBox="1"/>
          <p:nvPr/>
        </p:nvSpPr>
        <p:spPr>
          <a:xfrm>
            <a:off x="5540725" y="3827500"/>
            <a:ext cx="30000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/>
              <a:t>we reduce training time (by 15x or more) and improve completion performance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(over 20%)” (Abstract)</a:t>
            </a:r>
            <a:endParaRPr/>
          </a:p>
        </p:txBody>
      </p:sp>
      <p:sp>
        <p:nvSpPr>
          <p:cNvPr id="215" name="Google Shape;215;p29"/>
          <p:cNvSpPr txBox="1"/>
          <p:nvPr/>
        </p:nvSpPr>
        <p:spPr>
          <a:xfrm>
            <a:off x="260300" y="3257013"/>
            <a:ext cx="3669900" cy="15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global shape code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splitting like a snowflake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PCN: Point Completion Network</a:t>
            </a:r>
            <a:endParaRPr/>
          </a:p>
        </p:txBody>
      </p:sp>
      <p:sp>
        <p:nvSpPr>
          <p:cNvPr id="221" name="Google Shape;22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predicting Y(set of dense 3D points, </a:t>
            </a:r>
            <a:r>
              <a:rPr lang="en" u="sng"/>
              <a:t>uniformly</a:t>
            </a:r>
            <a:r>
              <a:rPr lang="en"/>
              <a:t> </a:t>
            </a:r>
            <a:r>
              <a:rPr lang="en"/>
              <a:t>sampled</a:t>
            </a:r>
            <a:r>
              <a:rPr lang="en"/>
              <a:t> from </a:t>
            </a:r>
            <a:r>
              <a:rPr lang="en" u="sng"/>
              <a:t>observed and unobserved</a:t>
            </a:r>
            <a:r>
              <a:rPr lang="en"/>
              <a:t> surface of the object) given X(set of 3D points, sampled from </a:t>
            </a:r>
            <a:r>
              <a:rPr lang="en" u="sng"/>
              <a:t>observed</a:t>
            </a:r>
            <a:r>
              <a:rPr lang="en"/>
              <a:t> surface of the object)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i.e. “X is not necessarily a subset of Y”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Supervised Learning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PCN: encoder -&gt; coarse decoder(Y_coarse) -&gt; detailed decoder(Y_detail)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PCN Training: PCN -&gt; compare with Y_gt -&gt; </a:t>
            </a:r>
            <a:r>
              <a:rPr lang="en"/>
              <a:t>backpropagation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PCN Architecture</a:t>
            </a:r>
            <a:endParaRPr/>
          </a:p>
        </p:txBody>
      </p:sp>
      <p:pic>
        <p:nvPicPr>
          <p:cNvPr id="227" name="Google Shape;22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413" y="1017725"/>
            <a:ext cx="7125177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1"/>
          <p:cNvSpPr txBox="1"/>
          <p:nvPr/>
        </p:nvSpPr>
        <p:spPr>
          <a:xfrm>
            <a:off x="499782" y="1711000"/>
            <a:ext cx="8643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extended PointNet</a:t>
            </a:r>
            <a:endParaRPr sz="800">
              <a:solidFill>
                <a:srgbClr val="FF0000"/>
              </a:solidFill>
            </a:endParaRPr>
          </a:p>
        </p:txBody>
      </p:sp>
      <p:cxnSp>
        <p:nvCxnSpPr>
          <p:cNvPr id="229" name="Google Shape;229;p31"/>
          <p:cNvCxnSpPr/>
          <p:nvPr/>
        </p:nvCxnSpPr>
        <p:spPr>
          <a:xfrm flipH="1">
            <a:off x="540475" y="2095500"/>
            <a:ext cx="144300" cy="1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31"/>
          <p:cNvCxnSpPr/>
          <p:nvPr/>
        </p:nvCxnSpPr>
        <p:spPr>
          <a:xfrm>
            <a:off x="854675" y="2085204"/>
            <a:ext cx="0" cy="18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" name="Google Shape;231;p31"/>
          <p:cNvSpPr txBox="1"/>
          <p:nvPr/>
        </p:nvSpPr>
        <p:spPr>
          <a:xfrm>
            <a:off x="15458" y="2167680"/>
            <a:ext cx="747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permutation invariant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32" name="Google Shape;232;p31"/>
          <p:cNvSpPr txBox="1"/>
          <p:nvPr/>
        </p:nvSpPr>
        <p:spPr>
          <a:xfrm>
            <a:off x="627916" y="2167680"/>
            <a:ext cx="7722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noise tolerant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33" name="Google Shape;233;p31"/>
          <p:cNvSpPr txBox="1"/>
          <p:nvPr/>
        </p:nvSpPr>
        <p:spPr>
          <a:xfrm>
            <a:off x="8048625" y="1622475"/>
            <a:ext cx="705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two stacked PointNet Layers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34" name="Google Shape;234;p31"/>
          <p:cNvSpPr txBox="1"/>
          <p:nvPr/>
        </p:nvSpPr>
        <p:spPr>
          <a:xfrm>
            <a:off x="6686550" y="3613200"/>
            <a:ext cx="9525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fully-connected decoder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35" name="Google Shape;235;p31"/>
          <p:cNvSpPr txBox="1"/>
          <p:nvPr/>
        </p:nvSpPr>
        <p:spPr>
          <a:xfrm>
            <a:off x="7974900" y="3279825"/>
            <a:ext cx="15405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two stage decoder:</a:t>
            </a:r>
            <a:endParaRPr sz="800">
              <a:solidFill>
                <a:srgbClr val="FF0000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Char char="●"/>
            </a:pPr>
            <a:r>
              <a:rPr lang="en" sz="800">
                <a:solidFill>
                  <a:srgbClr val="FF0000"/>
                </a:solidFill>
              </a:rPr>
              <a:t>coarse</a:t>
            </a:r>
            <a:endParaRPr sz="800">
              <a:solidFill>
                <a:srgbClr val="FF0000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Char char="●"/>
            </a:pPr>
            <a:r>
              <a:rPr lang="en" sz="800">
                <a:solidFill>
                  <a:srgbClr val="FF0000"/>
                </a:solidFill>
              </a:rPr>
              <a:t>detailed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36" name="Google Shape;236;p31"/>
          <p:cNvSpPr txBox="1"/>
          <p:nvPr/>
        </p:nvSpPr>
        <p:spPr>
          <a:xfrm>
            <a:off x="3495675" y="4756200"/>
            <a:ext cx="9525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folding-based decoder</a:t>
            </a:r>
            <a:endParaRPr sz="800">
              <a:solidFill>
                <a:srgbClr val="FF0000"/>
              </a:solidFill>
            </a:endParaRPr>
          </a:p>
        </p:txBody>
      </p:sp>
      <p:cxnSp>
        <p:nvCxnSpPr>
          <p:cNvPr id="237" name="Google Shape;237;p31"/>
          <p:cNvCxnSpPr/>
          <p:nvPr/>
        </p:nvCxnSpPr>
        <p:spPr>
          <a:xfrm>
            <a:off x="4683725" y="4658404"/>
            <a:ext cx="0" cy="18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" name="Google Shape;238;p31"/>
          <p:cNvSpPr txBox="1"/>
          <p:nvPr/>
        </p:nvSpPr>
        <p:spPr>
          <a:xfrm>
            <a:off x="4438650" y="4756200"/>
            <a:ext cx="13527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patch surrounding the coarse point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39" name="Google Shape;239;p31"/>
          <p:cNvSpPr txBox="1"/>
          <p:nvPr/>
        </p:nvSpPr>
        <p:spPr>
          <a:xfrm>
            <a:off x="1981200" y="3756075"/>
            <a:ext cx="9525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Chamfer Distance</a:t>
            </a:r>
            <a:endParaRPr sz="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loss</a:t>
            </a:r>
            <a:endParaRPr sz="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/>
        </p:nvSpPr>
        <p:spPr>
          <a:xfrm>
            <a:off x="413350" y="1177150"/>
            <a:ext cx="79704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decoder: combination of fully-connected decoder(predicting spare set of points, i.e. global geometry) and folding-based decoder(approximating a smooth surface, i.e. local geometry)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5" name="Google Shape;245;p32"/>
          <p:cNvSpPr txBox="1"/>
          <p:nvPr/>
        </p:nvSpPr>
        <p:spPr>
          <a:xfrm>
            <a:off x="1320925" y="2668800"/>
            <a:ext cx="65775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two stages: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coarse output: v → fully connected layers → Y_coarse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detailed output: 2D grid per every coarse point, fold 2D grid into 3D surface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Chamfer distance: looks at the nearest neighbor distances between two point clouds (Note: gt &lt;-&gt; output)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Earth Mover’s distance: penalizes point density differences more effectively, expensive to calculate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PCN loss:</a:t>
            </a:r>
            <a:endParaRPr/>
          </a:p>
        </p:txBody>
      </p:sp>
      <p:pic>
        <p:nvPicPr>
          <p:cNvPr id="251" name="Google Shape;25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700" y="2959275"/>
            <a:ext cx="63246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3"/>
          <p:cNvSpPr txBox="1"/>
          <p:nvPr/>
        </p:nvSpPr>
        <p:spPr>
          <a:xfrm rot="-5400000">
            <a:off x="2444125" y="2468225"/>
            <a:ext cx="94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}</a:t>
            </a:r>
            <a:endParaRPr sz="4000">
              <a:solidFill>
                <a:schemeClr val="dk2"/>
              </a:solidFill>
            </a:endParaRPr>
          </a:p>
        </p:txBody>
      </p:sp>
      <p:sp>
        <p:nvSpPr>
          <p:cNvPr id="253" name="Google Shape;253;p33"/>
          <p:cNvSpPr txBox="1"/>
          <p:nvPr/>
        </p:nvSpPr>
        <p:spPr>
          <a:xfrm>
            <a:off x="2629525" y="2543525"/>
            <a:ext cx="15366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outputs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4" name="Google Shape;254;p33"/>
          <p:cNvSpPr txBox="1"/>
          <p:nvPr/>
        </p:nvSpPr>
        <p:spPr>
          <a:xfrm>
            <a:off x="5756246" y="2529991"/>
            <a:ext cx="23760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downsampled gt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5" name="Google Shape;255;p33"/>
          <p:cNvSpPr txBox="1"/>
          <p:nvPr/>
        </p:nvSpPr>
        <p:spPr>
          <a:xfrm rot="-5400000">
            <a:off x="6007425" y="2465075"/>
            <a:ext cx="91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}</a:t>
            </a:r>
            <a:endParaRPr sz="4000">
              <a:solidFill>
                <a:schemeClr val="dk2"/>
              </a:solidFill>
            </a:endParaRPr>
          </a:p>
        </p:txBody>
      </p:sp>
      <p:cxnSp>
        <p:nvCxnSpPr>
          <p:cNvPr id="256" name="Google Shape;256;p33"/>
          <p:cNvCxnSpPr/>
          <p:nvPr/>
        </p:nvCxnSpPr>
        <p:spPr>
          <a:xfrm>
            <a:off x="7260567" y="3395275"/>
            <a:ext cx="7728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" name="Google Shape;257;p33"/>
          <p:cNvSpPr txBox="1"/>
          <p:nvPr/>
        </p:nvSpPr>
        <p:spPr>
          <a:xfrm>
            <a:off x="8033373" y="3260570"/>
            <a:ext cx="10914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coarse shape loss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258" name="Google Shape;258;p33"/>
          <p:cNvCxnSpPr/>
          <p:nvPr/>
        </p:nvCxnSpPr>
        <p:spPr>
          <a:xfrm>
            <a:off x="7475867" y="3772325"/>
            <a:ext cx="5214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9" name="Google Shape;259;p33"/>
          <p:cNvSpPr txBox="1"/>
          <p:nvPr/>
        </p:nvSpPr>
        <p:spPr>
          <a:xfrm>
            <a:off x="8052598" y="3637770"/>
            <a:ext cx="10914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detailed</a:t>
            </a:r>
            <a:r>
              <a:rPr lang="en" sz="800">
                <a:solidFill>
                  <a:schemeClr val="dk2"/>
                </a:solidFill>
              </a:rPr>
              <a:t> shape loss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60" name="Google Shape;260;p33"/>
          <p:cNvSpPr txBox="1"/>
          <p:nvPr/>
        </p:nvSpPr>
        <p:spPr>
          <a:xfrm>
            <a:off x="1266673" y="4001545"/>
            <a:ext cx="10914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d1: CD or EMD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d2: CD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PoinTr</a:t>
            </a:r>
            <a:endParaRPr/>
          </a:p>
        </p:txBody>
      </p:sp>
      <p:sp>
        <p:nvSpPr>
          <p:cNvPr id="266" name="Google Shape;26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loss of fine grained i</a:t>
            </a:r>
            <a:r>
              <a:rPr lang="en"/>
              <a:t>nformation when the point cloud is compressed into a single vector, max pooling, encoder-decoder based approaches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Method: set-to-set translation via Transformer encoder/decoder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DGCNN -&gt; point proxy(</a:t>
            </a:r>
            <a:r>
              <a:rPr lang="en"/>
              <a:t>center point + surrounding local geometry)</a:t>
            </a:r>
            <a:r>
              <a:rPr lang="en"/>
              <a:t> extraction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self-attention: long sequences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cross-attention: learn attention map</a:t>
            </a:r>
            <a:endParaRPr/>
          </a:p>
        </p:txBody>
      </p:sp>
      <p:pic>
        <p:nvPicPr>
          <p:cNvPr id="267" name="Google Shape;26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8600" y="2825800"/>
            <a:ext cx="1330516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4"/>
          <p:cNvSpPr txBox="1"/>
          <p:nvPr/>
        </p:nvSpPr>
        <p:spPr>
          <a:xfrm>
            <a:off x="3857625" y="2914650"/>
            <a:ext cx="9906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point proxy</a:t>
            </a:r>
            <a:endParaRPr sz="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3" name="Google Shape;273;p35"/>
          <p:cNvCxnSpPr/>
          <p:nvPr/>
        </p:nvCxnSpPr>
        <p:spPr>
          <a:xfrm>
            <a:off x="1485900" y="2990850"/>
            <a:ext cx="0" cy="64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74" name="Google Shape;27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86513"/>
            <a:ext cx="8839200" cy="225202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5"/>
          <p:cNvSpPr txBox="1"/>
          <p:nvPr/>
        </p:nvSpPr>
        <p:spPr>
          <a:xfrm>
            <a:off x="1095375" y="2933700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dynamic graph CNN, local geometry feature extraction</a:t>
            </a:r>
            <a:endParaRPr sz="800">
              <a:solidFill>
                <a:srgbClr val="FF0000"/>
              </a:solidFill>
            </a:endParaRPr>
          </a:p>
        </p:txBody>
      </p:sp>
      <p:cxnSp>
        <p:nvCxnSpPr>
          <p:cNvPr id="276" name="Google Shape;276;p35"/>
          <p:cNvCxnSpPr/>
          <p:nvPr/>
        </p:nvCxnSpPr>
        <p:spPr>
          <a:xfrm flipH="1" rot="10800000">
            <a:off x="2455900" y="1176925"/>
            <a:ext cx="287400" cy="78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" name="Google Shape;277;p35"/>
          <p:cNvSpPr txBox="1"/>
          <p:nvPr/>
        </p:nvSpPr>
        <p:spPr>
          <a:xfrm>
            <a:off x="2743300" y="839175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eg. two legs of a chair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78" name="Google Shape;278;p35"/>
          <p:cNvSpPr txBox="1"/>
          <p:nvPr/>
        </p:nvSpPr>
        <p:spPr>
          <a:xfrm>
            <a:off x="3108853" y="3410411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i.e. tokens, to make point clouds suitable for transformers</a:t>
            </a:r>
            <a:endParaRPr sz="800">
              <a:solidFill>
                <a:srgbClr val="FF0000"/>
              </a:solidFill>
            </a:endParaRPr>
          </a:p>
        </p:txBody>
      </p:sp>
      <p:cxnSp>
        <p:nvCxnSpPr>
          <p:cNvPr id="279" name="Google Shape;279;p35"/>
          <p:cNvCxnSpPr/>
          <p:nvPr/>
        </p:nvCxnSpPr>
        <p:spPr>
          <a:xfrm flipH="1">
            <a:off x="2465200" y="2906438"/>
            <a:ext cx="278100" cy="111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0" name="Google Shape;280;p35"/>
          <p:cNvSpPr txBox="1"/>
          <p:nvPr/>
        </p:nvSpPr>
        <p:spPr>
          <a:xfrm>
            <a:off x="1861845" y="4026193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transformer’s self attention mechanism lacks inductive bias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81" name="Google Shape;281;p35"/>
          <p:cNvSpPr txBox="1"/>
          <p:nvPr/>
        </p:nvSpPr>
        <p:spPr>
          <a:xfrm>
            <a:off x="5619320" y="3562793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dynamically conditioned on the encoder outputs</a:t>
            </a:r>
            <a:endParaRPr sz="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Extra: AdaPointr(Same Group)</a:t>
            </a:r>
            <a:endParaRPr/>
          </a:p>
        </p:txBody>
      </p:sp>
      <p:sp>
        <p:nvSpPr>
          <p:cNvPr id="287" name="Google Shape;28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736"/>
            <a:ext cx="9143999" cy="2083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9" name="Google Shape;289;p36"/>
          <p:cNvCxnSpPr/>
          <p:nvPr/>
        </p:nvCxnSpPr>
        <p:spPr>
          <a:xfrm>
            <a:off x="6959950" y="2594925"/>
            <a:ext cx="18600" cy="88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0" name="Google Shape;290;p36"/>
          <p:cNvSpPr txBox="1"/>
          <p:nvPr/>
        </p:nvSpPr>
        <p:spPr>
          <a:xfrm>
            <a:off x="6681925" y="3410473"/>
            <a:ext cx="10659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M candidate queries, bcs. not every point cloud is incomplete at the same level</a:t>
            </a:r>
            <a:endParaRPr sz="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SnowflakeNet</a:t>
            </a:r>
            <a:endParaRPr/>
          </a:p>
        </p:txBody>
      </p:sp>
      <p:sp>
        <p:nvSpPr>
          <p:cNvPr id="296" name="Google Shape;29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7" name="Google Shape;29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507" y="1152477"/>
            <a:ext cx="7255817" cy="341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8" name="Google Shape;298;p37"/>
          <p:cNvCxnSpPr/>
          <p:nvPr/>
        </p:nvCxnSpPr>
        <p:spPr>
          <a:xfrm flipH="1" rot="10800000">
            <a:off x="4031400" y="935875"/>
            <a:ext cx="250200" cy="55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9" name="Google Shape;299;p37"/>
          <p:cNvSpPr txBox="1"/>
          <p:nvPr/>
        </p:nvSpPr>
        <p:spPr>
          <a:xfrm>
            <a:off x="4318700" y="528248"/>
            <a:ext cx="10659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using the shape codes, less #</a:t>
            </a:r>
            <a:endParaRPr sz="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Extra: ComPC</a:t>
            </a:r>
            <a:endParaRPr/>
          </a:p>
        </p:txBody>
      </p:sp>
      <p:pic>
        <p:nvPicPr>
          <p:cNvPr id="305" name="Google Shape;305;p38" title="Screenshot 2026-05-27 at 11.05.0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775" y="1099350"/>
            <a:ext cx="7184574" cy="346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Extra: GenPC</a:t>
            </a:r>
            <a:endParaRPr/>
          </a:p>
        </p:txBody>
      </p:sp>
      <p:sp>
        <p:nvSpPr>
          <p:cNvPr id="311" name="Google Shape;311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875" y="1451388"/>
            <a:ext cx="8356249" cy="224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Extra: ComPose</a:t>
            </a:r>
            <a:endParaRPr/>
          </a:p>
        </p:txBody>
      </p:sp>
      <p:sp>
        <p:nvSpPr>
          <p:cNvPr id="318" name="Google Shape;318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975" y="1120500"/>
            <a:ext cx="8260050" cy="3480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Scene Flow / 3D Motion Estimation</a:t>
            </a:r>
            <a:endParaRPr/>
          </a:p>
        </p:txBody>
      </p:sp>
      <p:sp>
        <p:nvSpPr>
          <p:cNvPr id="325" name="Google Shape;325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r>
              <a:rPr lang="en"/>
              <a:t>iven two 3D point clouds taken at different times, estimate the 3D motion vector of each point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FlowNet3D</a:t>
            </a:r>
            <a:endParaRPr/>
          </a:p>
        </p:txBody>
      </p:sp>
      <p:sp>
        <p:nvSpPr>
          <p:cNvPr id="331" name="Google Shape;33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object motion, viewpoint change, no </a:t>
            </a:r>
            <a:r>
              <a:rPr lang="en"/>
              <a:t>correspondence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set conv layer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flow embedding layer -&gt;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set upconv layer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2300" y="2041975"/>
            <a:ext cx="3551925" cy="66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9" name="Google Shape;33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09095"/>
            <a:ext cx="9144001" cy="432531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3"/>
          <p:cNvSpPr txBox="1"/>
          <p:nvPr/>
        </p:nvSpPr>
        <p:spPr>
          <a:xfrm>
            <a:off x="1028707" y="472642"/>
            <a:ext cx="695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feature extraction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341" name="Google Shape;341;p43"/>
          <p:cNvSpPr txBox="1"/>
          <p:nvPr/>
        </p:nvSpPr>
        <p:spPr>
          <a:xfrm>
            <a:off x="3692607" y="646917"/>
            <a:ext cx="695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similarity, motion feature extraction per every candidate match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342" name="Google Shape;342;p43"/>
          <p:cNvSpPr txBox="1"/>
          <p:nvPr/>
        </p:nvSpPr>
        <p:spPr>
          <a:xfrm>
            <a:off x="4901507" y="891992"/>
            <a:ext cx="695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coarse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343" name="Google Shape;343;p43"/>
          <p:cNvSpPr txBox="1"/>
          <p:nvPr/>
        </p:nvSpPr>
        <p:spPr>
          <a:xfrm>
            <a:off x="6777682" y="1017717"/>
            <a:ext cx="695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like a decoder</a:t>
            </a:r>
            <a:endParaRPr sz="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Scene Flow Prior</a:t>
            </a:r>
            <a:endParaRPr/>
          </a:p>
        </p:txBody>
      </p:sp>
      <p:sp>
        <p:nvSpPr>
          <p:cNvPr id="349" name="Google Shape;349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training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Method: </a:t>
            </a:r>
            <a:r>
              <a:rPr lang="en">
                <a:highlight>
                  <a:schemeClr val="accent6"/>
                </a:highlight>
              </a:rPr>
              <a:t>NO TRAINING</a:t>
            </a:r>
            <a:r>
              <a:rPr lang="en"/>
              <a:t>, for each new pair, a small MLP is optimized from scratch at model runtime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neural prior</a:t>
            </a:r>
            <a:endParaRPr/>
          </a:p>
        </p:txBody>
      </p:sp>
      <p:pic>
        <p:nvPicPr>
          <p:cNvPr id="350" name="Google Shape;35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9225" y="2811475"/>
            <a:ext cx="65151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ICPFlow</a:t>
            </a:r>
            <a:endParaRPr/>
          </a:p>
        </p:txBody>
      </p:sp>
      <p:pic>
        <p:nvPicPr>
          <p:cNvPr id="356" name="Google Shape;35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475" y="1534958"/>
            <a:ext cx="9144001" cy="2073584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5"/>
          <p:cNvSpPr txBox="1"/>
          <p:nvPr/>
        </p:nvSpPr>
        <p:spPr>
          <a:xfrm>
            <a:off x="1751573" y="3530950"/>
            <a:ext cx="880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to only get the object movements,</a:t>
            </a:r>
            <a:endParaRPr sz="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no background needed,</a:t>
            </a:r>
            <a:endParaRPr sz="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segmentation like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358" name="Google Shape;358;p45"/>
          <p:cNvSpPr txBox="1"/>
          <p:nvPr/>
        </p:nvSpPr>
        <p:spPr>
          <a:xfrm>
            <a:off x="5453473" y="3530950"/>
            <a:ext cx="880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iterative closest point</a:t>
            </a:r>
            <a:endParaRPr sz="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Non-rigid Registration / Deformation</a:t>
            </a:r>
            <a:endParaRPr/>
          </a:p>
        </p:txBody>
      </p:sp>
      <p:sp>
        <p:nvSpPr>
          <p:cNvPr id="364" name="Google Shape;364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 two 3D point clouds taken at different times, estimate the 3D motion vector of each point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Lepard</a:t>
            </a:r>
            <a:endParaRPr/>
          </a:p>
        </p:txBody>
      </p:sp>
      <p:sp>
        <p:nvSpPr>
          <p:cNvPr id="370" name="Google Shape;370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match points when partial overlap, rigid/deformable scene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Method: KPFCN feature extraction -&gt; positional encoding -&gt; self/cross-attention Transformer -&gt; differentiable matching -&gt; soft Procrustes rigid fitting -&gt; repositioning -&gt; final matching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Note: Procrustes finds best </a:t>
            </a:r>
            <a:r>
              <a:rPr lang="en"/>
              <a:t>alignment</a:t>
            </a:r>
            <a:r>
              <a:rPr lang="en"/>
              <a:t> between two point sets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SLAM(Simultaneous Localization and Mapping)</a:t>
            </a:r>
            <a:endParaRPr/>
          </a:p>
        </p:txBody>
      </p:sp>
      <p:sp>
        <p:nvSpPr>
          <p:cNvPr id="376" name="Google Shape;37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Localization:</a:t>
            </a:r>
            <a:r>
              <a:rPr lang="en" sz="1100">
                <a:solidFill>
                  <a:schemeClr val="dk1"/>
                </a:solidFill>
              </a:rPr>
              <a:t> estimating the sensor/robot’s current position and orientation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Mapping:</a:t>
            </a:r>
            <a:r>
              <a:rPr lang="en" sz="1100">
                <a:solidFill>
                  <a:schemeClr val="dk1"/>
                </a:solidFill>
              </a:rPr>
              <a:t> building a map/model of the surrounding environment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u="sng">
                <a:solidFill>
                  <a:schemeClr val="dk1"/>
                </a:solidFill>
              </a:rPr>
              <a:t>SLAM</a:t>
            </a:r>
            <a:r>
              <a:rPr lang="en" sz="1100">
                <a:solidFill>
                  <a:schemeClr val="dk1"/>
                </a:solidFill>
              </a:rPr>
              <a:t>: continuously matching sensor observations over time and update the map of the environment -&gt; </a:t>
            </a:r>
            <a:r>
              <a:rPr lang="en" sz="1100">
                <a:solidFill>
                  <a:schemeClr val="dk1"/>
                </a:solidFill>
                <a:highlight>
                  <a:srgbClr val="FFFF00"/>
                </a:highlight>
              </a:rPr>
              <a:t>partial matching cloud problem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pic>
        <p:nvPicPr>
          <p:cNvPr id="377" name="Google Shape;37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525" y="2275200"/>
            <a:ext cx="8362950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84" name="Google Shape;38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390"/>
            <a:ext cx="9144001" cy="511472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9"/>
          <p:cNvSpPr txBox="1"/>
          <p:nvPr/>
        </p:nvSpPr>
        <p:spPr>
          <a:xfrm>
            <a:off x="426300" y="463375"/>
            <a:ext cx="9825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source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386" name="Google Shape;386;p49"/>
          <p:cNvSpPr txBox="1"/>
          <p:nvPr/>
        </p:nvSpPr>
        <p:spPr>
          <a:xfrm>
            <a:off x="426300" y="1199650"/>
            <a:ext cx="9825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target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387" name="Google Shape;387;p49"/>
          <p:cNvSpPr txBox="1"/>
          <p:nvPr/>
        </p:nvSpPr>
        <p:spPr>
          <a:xfrm>
            <a:off x="278100" y="83400"/>
            <a:ext cx="1130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partial point cloud matching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388" name="Google Shape;388;p49"/>
          <p:cNvSpPr txBox="1"/>
          <p:nvPr/>
        </p:nvSpPr>
        <p:spPr>
          <a:xfrm rot="-5400000">
            <a:off x="222450" y="218250"/>
            <a:ext cx="6117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}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9" name="Google Shape;389;p49"/>
          <p:cNvSpPr txBox="1"/>
          <p:nvPr/>
        </p:nvSpPr>
        <p:spPr>
          <a:xfrm>
            <a:off x="2627395" y="32175"/>
            <a:ext cx="1130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downsampling &amp; feature extraction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390" name="Google Shape;390;p49"/>
          <p:cNvSpPr txBox="1"/>
          <p:nvPr/>
        </p:nvSpPr>
        <p:spPr>
          <a:xfrm>
            <a:off x="-37050" y="2571750"/>
            <a:ext cx="1130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positional codes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391" name="Google Shape;391;p49"/>
          <p:cNvSpPr txBox="1"/>
          <p:nvPr/>
        </p:nvSpPr>
        <p:spPr>
          <a:xfrm>
            <a:off x="0" y="3438075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disentanglement between position and feature</a:t>
            </a:r>
            <a:endParaRPr sz="800">
              <a:solidFill>
                <a:srgbClr val="FF0000"/>
              </a:solidFill>
            </a:endParaRPr>
          </a:p>
        </p:txBody>
      </p:sp>
      <p:cxnSp>
        <p:nvCxnSpPr>
          <p:cNvPr id="392" name="Google Shape;392;p49"/>
          <p:cNvCxnSpPr/>
          <p:nvPr/>
        </p:nvCxnSpPr>
        <p:spPr>
          <a:xfrm flipH="1">
            <a:off x="498900" y="399150"/>
            <a:ext cx="2501100" cy="30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49"/>
          <p:cNvCxnSpPr/>
          <p:nvPr/>
        </p:nvCxnSpPr>
        <p:spPr>
          <a:xfrm flipH="1">
            <a:off x="426225" y="2875650"/>
            <a:ext cx="136200" cy="6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4" name="Google Shape;394;p49"/>
          <p:cNvSpPr txBox="1"/>
          <p:nvPr/>
        </p:nvSpPr>
        <p:spPr>
          <a:xfrm>
            <a:off x="4726225" y="1017725"/>
            <a:ext cx="843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Transformer + Matching + Procrustes</a:t>
            </a:r>
            <a:endParaRPr sz="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Deformation Pyramid</a:t>
            </a:r>
            <a:endParaRPr/>
          </a:p>
        </p:txBody>
      </p:sp>
      <p:sp>
        <p:nvSpPr>
          <p:cNvPr id="400" name="Google Shape;400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non-rigid point cloud registration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Method: hierarchical motion decomposition, sinusoidal position encoding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0" y="571500"/>
            <a:ext cx="3048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51"/>
          <p:cNvSpPr txBox="1"/>
          <p:nvPr/>
        </p:nvSpPr>
        <p:spPr>
          <a:xfrm>
            <a:off x="3819075" y="571500"/>
            <a:ext cx="8889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sinusoidal positional encoding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407" name="Google Shape;407;p51"/>
          <p:cNvSpPr txBox="1"/>
          <p:nvPr/>
        </p:nvSpPr>
        <p:spPr>
          <a:xfrm>
            <a:off x="5032850" y="743850"/>
            <a:ext cx="8889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motion increment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408" name="Google Shape;408;p51"/>
          <p:cNvSpPr txBox="1"/>
          <p:nvPr/>
        </p:nvSpPr>
        <p:spPr>
          <a:xfrm>
            <a:off x="5548104" y="743850"/>
            <a:ext cx="8889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deformability confidence</a:t>
            </a:r>
            <a:endParaRPr sz="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Deformation Graphs</a:t>
            </a:r>
            <a:endParaRPr/>
          </a:p>
        </p:txBody>
      </p:sp>
      <p:sp>
        <p:nvSpPr>
          <p:cNvPr id="414" name="Google Shape;414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globally consistently reconstruction + track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eg. DynamicFusion: incremental deformation graph -&gt; tracking error accumulation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Method: globally optimized neural deformation graph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(considering all sequence together)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15" name="Google Shape;41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991750"/>
            <a:ext cx="42100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52"/>
          <p:cNvSpPr txBox="1"/>
          <p:nvPr/>
        </p:nvSpPr>
        <p:spPr>
          <a:xfrm>
            <a:off x="585650" y="3525150"/>
            <a:ext cx="698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position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417" name="Google Shape;417;p52"/>
          <p:cNvSpPr txBox="1"/>
          <p:nvPr/>
        </p:nvSpPr>
        <p:spPr>
          <a:xfrm>
            <a:off x="1236975" y="3525150"/>
            <a:ext cx="698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rotation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418" name="Google Shape;418;p52"/>
          <p:cNvSpPr txBox="1"/>
          <p:nvPr/>
        </p:nvSpPr>
        <p:spPr>
          <a:xfrm>
            <a:off x="1897375" y="3525150"/>
            <a:ext cx="698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weights</a:t>
            </a:r>
            <a:endParaRPr sz="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10981"/>
            <a:ext cx="9143999" cy="33215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4" name="Google Shape;424;p53"/>
          <p:cNvCxnSpPr/>
          <p:nvPr/>
        </p:nvCxnSpPr>
        <p:spPr>
          <a:xfrm>
            <a:off x="762000" y="3020775"/>
            <a:ext cx="4083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53"/>
          <p:cNvCxnSpPr/>
          <p:nvPr/>
        </p:nvCxnSpPr>
        <p:spPr>
          <a:xfrm>
            <a:off x="644075" y="3165925"/>
            <a:ext cx="6714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" name="Google Shape;426;p53"/>
          <p:cNvSpPr txBox="1"/>
          <p:nvPr/>
        </p:nvSpPr>
        <p:spPr>
          <a:xfrm>
            <a:off x="45489" y="2957275"/>
            <a:ext cx="8526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not point cloud!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427" name="Google Shape;427;p53"/>
          <p:cNvSpPr txBox="1"/>
          <p:nvPr/>
        </p:nvSpPr>
        <p:spPr>
          <a:xfrm>
            <a:off x="3245889" y="910975"/>
            <a:ext cx="8526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deformation graph nodes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428" name="Google Shape;428;p53"/>
          <p:cNvSpPr txBox="1"/>
          <p:nvPr/>
        </p:nvSpPr>
        <p:spPr>
          <a:xfrm>
            <a:off x="2168050" y="399125"/>
            <a:ext cx="125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graph nodes covering the object </a:t>
            </a:r>
            <a:endParaRPr sz="800">
              <a:solidFill>
                <a:srgbClr val="FF0000"/>
              </a:solidFill>
            </a:endParaRPr>
          </a:p>
        </p:txBody>
      </p:sp>
      <p:cxnSp>
        <p:nvCxnSpPr>
          <p:cNvPr id="429" name="Google Shape;429;p53"/>
          <p:cNvCxnSpPr>
            <a:endCxn id="428" idx="2"/>
          </p:cNvCxnSpPr>
          <p:nvPr/>
        </p:nvCxnSpPr>
        <p:spPr>
          <a:xfrm flipH="1" rot="10800000">
            <a:off x="2276800" y="830225"/>
            <a:ext cx="517200" cy="5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" name="Google Shape;430;p53"/>
          <p:cNvCxnSpPr/>
          <p:nvPr/>
        </p:nvCxnSpPr>
        <p:spPr>
          <a:xfrm rot="10800000">
            <a:off x="1124725" y="689450"/>
            <a:ext cx="517200" cy="3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1" name="Google Shape;431;p53"/>
          <p:cNvSpPr txBox="1"/>
          <p:nvPr/>
        </p:nvSpPr>
        <p:spPr>
          <a:xfrm>
            <a:off x="340200" y="215900"/>
            <a:ext cx="125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prevent nodes from remaining outside the object</a:t>
            </a:r>
            <a:endParaRPr sz="800">
              <a:solidFill>
                <a:srgbClr val="FF0000"/>
              </a:solidFill>
            </a:endParaRPr>
          </a:p>
        </p:txBody>
      </p:sp>
      <p:pic>
        <p:nvPicPr>
          <p:cNvPr id="432" name="Google Shape;43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5908" y="215900"/>
            <a:ext cx="2089316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812" y="39225"/>
            <a:ext cx="1478674" cy="26012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3"/>
          <p:cNvSpPr txBox="1"/>
          <p:nvPr/>
        </p:nvSpPr>
        <p:spPr>
          <a:xfrm>
            <a:off x="3614856" y="87475"/>
            <a:ext cx="1251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solidFill>
                  <a:srgbClr val="FF0000"/>
                </a:solidFill>
              </a:rPr>
              <a:t>uniform</a:t>
            </a:r>
            <a:endParaRPr sz="400">
              <a:solidFill>
                <a:srgbClr val="FF0000"/>
              </a:solidFill>
            </a:endParaRPr>
          </a:p>
        </p:txBody>
      </p:sp>
      <p:sp>
        <p:nvSpPr>
          <p:cNvPr id="435" name="Google Shape;435;p53"/>
          <p:cNvSpPr txBox="1"/>
          <p:nvPr/>
        </p:nvSpPr>
        <p:spPr>
          <a:xfrm>
            <a:off x="3542072" y="369800"/>
            <a:ext cx="1251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solidFill>
                  <a:srgbClr val="FF0000"/>
                </a:solidFill>
              </a:rPr>
              <a:t>near surface</a:t>
            </a:r>
            <a:endParaRPr sz="400">
              <a:solidFill>
                <a:srgbClr val="FF0000"/>
              </a:solidFill>
            </a:endParaRPr>
          </a:p>
        </p:txBody>
      </p:sp>
      <p:sp>
        <p:nvSpPr>
          <p:cNvPr id="436" name="Google Shape;436;p53"/>
          <p:cNvSpPr txBox="1"/>
          <p:nvPr/>
        </p:nvSpPr>
        <p:spPr>
          <a:xfrm>
            <a:off x="1644754" y="3881200"/>
            <a:ext cx="125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graph connectivity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437" name="Google Shape;437;p53"/>
          <p:cNvSpPr txBox="1"/>
          <p:nvPr/>
        </p:nvSpPr>
        <p:spPr>
          <a:xfrm>
            <a:off x="502430" y="3691675"/>
            <a:ext cx="125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prevent from becoming too densely correlated</a:t>
            </a:r>
            <a:endParaRPr sz="800">
              <a:solidFill>
                <a:srgbClr val="FF0000"/>
              </a:solidFill>
            </a:endParaRPr>
          </a:p>
        </p:txBody>
      </p:sp>
      <p:pic>
        <p:nvPicPr>
          <p:cNvPr id="438" name="Google Shape;438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8782" y="4122775"/>
            <a:ext cx="1945092" cy="34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Extra: DeGO</a:t>
            </a:r>
            <a:endParaRPr/>
          </a:p>
        </p:txBody>
      </p:sp>
      <p:sp>
        <p:nvSpPr>
          <p:cNvPr id="444" name="Google Shape;444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45" name="Google Shape;44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510" y="1054800"/>
            <a:ext cx="8278989" cy="347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