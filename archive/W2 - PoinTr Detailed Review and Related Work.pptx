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a1712d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a1712d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ea1712de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ea1712de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ea1712d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ea1712d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ea1712de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ea1712de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ea1712de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ea1712de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ea1712de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ea1712de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ea1712de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ea1712de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ea1712de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ea1712de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ea1712de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ea1712de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ea1712de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ea1712de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ea1712de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ea1712de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ea1712d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ea1712d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ea1712de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ea1712de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ea1712de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ea1712de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ea1712de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ea1712de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ea1712de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ea1712de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ea1712de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ea1712de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ab2df63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ab2df63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ea1712de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ea1712de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ea1712de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ea1712de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ea1712de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ea1712de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ab2df63c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ab2df63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ab2df63c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ab2df63c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ab2df63c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ab2df63c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ab2df63c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ab2df63c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ab2df63c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ab2df63c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f679774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af679774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ab2df63c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ab2df63c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ab2df63c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ab2df63c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ab2df63c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ab2df63c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ab2df63c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ab2df63c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ab2df63c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ab2df63c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ab2df63c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ab2df63c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ab2df63c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ab2df63c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ab2df63c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ab2df63c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ab2df63c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ab2df63c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ab2df63c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ab2df63c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ab2df63c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ab2df63c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ab2df63c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ab2df63c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abs/2108.08839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abs/1706.03762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merl.com/publications/docs/TR2017-193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rxiv.org/abs/2301.04545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arxiv.org/abs/2112.03530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arxiv.org/abs/2104.03670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PoinTr</a:t>
            </a:r>
            <a:r>
              <a:rPr lang="en"/>
              <a:t> Detailed Review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PoinTr Pipeline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3538"/>
            <a:ext cx="9144001" cy="239642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197675" y="3649700"/>
            <a:ext cx="15939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forming point proxies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2970675" y="2631161"/>
            <a:ext cx="1216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2913975" y="2829200"/>
            <a:ext cx="1329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4"/>
          <p:cNvCxnSpPr/>
          <p:nvPr/>
        </p:nvCxnSpPr>
        <p:spPr>
          <a:xfrm>
            <a:off x="4639900" y="2885800"/>
            <a:ext cx="452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4"/>
          <p:cNvCxnSpPr/>
          <p:nvPr/>
        </p:nvCxnSpPr>
        <p:spPr>
          <a:xfrm>
            <a:off x="4639900" y="3028750"/>
            <a:ext cx="452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/>
        </p:nvSpPr>
        <p:spPr>
          <a:xfrm>
            <a:off x="3139050" y="3649700"/>
            <a:ext cx="76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i.e. token sequence, relationships inside local patches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664165" y="2036999"/>
            <a:ext cx="1098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relationships between</a:t>
            </a:r>
            <a:endParaRPr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proxies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5626800" y="2631161"/>
            <a:ext cx="1216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5513400" y="2885800"/>
            <a:ext cx="1329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/>
          <p:nvPr/>
        </p:nvCxnSpPr>
        <p:spPr>
          <a:xfrm>
            <a:off x="7359500" y="2249000"/>
            <a:ext cx="452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Forming Point Proxies</a:t>
            </a:r>
            <a:endParaRPr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FPS, kNN, DGCNN, MLP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FPS (Farthest Point Sampling)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 point cloud → </a:t>
            </a:r>
            <a:r>
              <a:rPr lang="en">
                <a:solidFill>
                  <a:srgbClr val="FF0000"/>
                </a:solidFill>
              </a:rPr>
              <a:t>FPS</a:t>
            </a:r>
            <a:r>
              <a:rPr lang="en"/>
              <a:t> → center points</a:t>
            </a:r>
            <a:r>
              <a:rPr lang="en"/>
              <a:t> → DGCNN → extracted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FPS is a widely used method for the </a:t>
            </a:r>
            <a:r>
              <a:rPr lang="en" u="sng"/>
              <a:t>point cloud case</a:t>
            </a:r>
            <a:r>
              <a:rPr lang="en"/>
              <a:t> as it</a:t>
            </a:r>
            <a:r>
              <a:rPr lang="en"/>
              <a:t> </a:t>
            </a:r>
            <a:r>
              <a:rPr lang="en"/>
              <a:t>reduces the number of points while still preserving the overall geometric coverage of the shape.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(eg. PointNet)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“locate a fixed number N of point centers {q1, q2, ..., qN } in the partial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Then, local neighbourhoods are defined based on these center points, via kNN.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group becomes a local point patch.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DGCNN(Dynamic Graph Convolutional Neural Network)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 point cloud → FPS → center points → </a:t>
            </a:r>
            <a:r>
              <a:rPr lang="en">
                <a:solidFill>
                  <a:srgbClr val="FF0000"/>
                </a:solidFill>
              </a:rPr>
              <a:t>DGCNN</a:t>
            </a:r>
            <a:r>
              <a:rPr lang="en"/>
              <a:t> → extracted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hierarchical downsampling, feature extraction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Main idea is to build a local kNN graph and learn edge features between neighboring points using EdgeConv.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DGCNN plays a role similar to PointNet, i.e. summarizes small patches into single feature vectors.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Proxy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module (FPS, kNN, DGCNN…) </a:t>
            </a:r>
            <a:r>
              <a:rPr lang="en"/>
              <a:t>extract</a:t>
            </a:r>
            <a:r>
              <a:rPr lang="en"/>
              <a:t> semantic patterns(geometry-aware features) of local patches.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MLP captures the location information of the point proxy, inspired by the position embeddings.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Binding them together, we get feature vectors including both semantic and locational knowledge per every center point qi, which paper names as ‘point proxies’.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950" y="482488"/>
            <a:ext cx="1811325" cy="4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717375" y="277825"/>
            <a:ext cx="4365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point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022942" y="217915"/>
            <a:ext cx="5319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feature of </a:t>
            </a:r>
            <a:r>
              <a:rPr lang="en" sz="800">
                <a:solidFill>
                  <a:srgbClr val="FF0000"/>
                </a:solidFill>
              </a:rPr>
              <a:t>point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499375" y="211810"/>
            <a:ext cx="4365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point proxy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554850" y="873475"/>
            <a:ext cx="4365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MLP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Geometry-Aware Transformer Encoder</a:t>
            </a:r>
            <a:endParaRPr/>
          </a:p>
        </p:txBody>
      </p:sp>
      <p:sp>
        <p:nvSpPr>
          <p:cNvPr id="106" name="Google Shape;106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inductive bias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37" y="1031326"/>
            <a:ext cx="8274325" cy="3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8305325" y="3313050"/>
            <a:ext cx="76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capture geometric relation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8377800" y="2740350"/>
            <a:ext cx="76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following the practice of</a:t>
            </a:r>
            <a:endParaRPr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DGCNNs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Revisiting “</a:t>
            </a:r>
            <a:r>
              <a:rPr lang="en" u="sng">
                <a:solidFill>
                  <a:schemeClr val="hlink"/>
                </a:solidFill>
                <a:hlinkClick r:id="rId3"/>
              </a:rPr>
              <a:t>Attention is All You Need</a:t>
            </a:r>
            <a:r>
              <a:rPr lang="en"/>
              <a:t>(2017)”</a:t>
            </a:r>
            <a:endParaRPr/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Architecture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038" y="869850"/>
            <a:ext cx="2853926" cy="39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3621400" y="4592750"/>
            <a:ext cx="103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encoder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4621077" y="4596416"/>
            <a:ext cx="103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d</a:t>
            </a:r>
            <a:r>
              <a:rPr lang="en" sz="1800">
                <a:solidFill>
                  <a:srgbClr val="FF0000"/>
                </a:solidFill>
              </a:rPr>
              <a:t>ecoder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2378070" y="3538002"/>
            <a:ext cx="103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only compute once, then reuse for every sentence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4161995" y="3643247"/>
            <a:ext cx="8364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encoder input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5544200" y="1173275"/>
            <a:ext cx="1037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linear layer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word should carry information about its position in the sentence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trigonometric functions?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every position to have a different signature pattern.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absolute position + relative position (as it can be inferred by the formula.)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sinusoidal positional encodings are STATIC!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600" y="327776"/>
            <a:ext cx="2660399" cy="9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7925" y="365225"/>
            <a:ext cx="3035925" cy="8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model to relate words to each other (self → same sentence)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 = query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 = 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 =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i.e. input sentence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Now, each row contains not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meaning or position but also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word’s interaction with others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825" y="353575"/>
            <a:ext cx="4236825" cy="9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125" y="1604025"/>
            <a:ext cx="4692726" cy="16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2000" y="3354751"/>
            <a:ext cx="3345648" cy="154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7756075" y="474890"/>
            <a:ext cx="10257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permutation invariant, no parameters except embeddings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Multi-head Attention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every head will see the full sentence but a smaller part of embedding of each word</a:t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274" y="246027"/>
            <a:ext cx="5126524" cy="9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630" y="1608900"/>
            <a:ext cx="6094730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Multi-Head Attention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must not be able to see future words, for it to be causal.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values above the principal diagonal will be changed with -∞ before softmax, thus they will not be considered.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and Inference of a Transformer Model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prepend and append special tokens to the sentence to represent start and end.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&lt;SOS&gt; &lt;EOS&gt;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calculate cross entropy loss between output probabilities and target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Query Generator</a:t>
            </a:r>
            <a:endParaRPr/>
          </a:p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 output tokens like the NLP case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the query embeddings dynamically conditioned on the encoder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 = updated visible point proxy features → linear projection → max pooling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summarized into a global feature. (similar to PCN)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global feature → linear projection → M 3D coordinates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concatenate global feature and coordinates per every coordinate → query seed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MLP converts this set into query embedding format and updates as Q.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Geometry-Aware Transformer Decoder</a:t>
            </a:r>
            <a:endParaRPr/>
          </a:p>
        </p:txBody>
      </p:sp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 Arcihtecture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Q guided by 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self-attention over Q(consistent predicted missing proxy features)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cross</a:t>
            </a:r>
            <a:r>
              <a:rPr lang="en"/>
              <a:t>-attention from Q to V (Q collects information from every visible </a:t>
            </a:r>
            <a:r>
              <a:rPr lang="en"/>
              <a:t>point</a:t>
            </a:r>
            <a:r>
              <a:rPr lang="en"/>
              <a:t> proxy)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forming missing proxy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generating output in the proxy feature space, at first, dynamic queries were unaware of the visual context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5: Multi-scale Point Cloud Generation</a:t>
            </a:r>
            <a:endParaRPr/>
          </a:p>
        </p:txBody>
      </p:sp>
      <p:sp>
        <p:nvSpPr>
          <p:cNvPr id="199" name="Google Shape;19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Proposal: generative refinement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Revisiting “</a:t>
            </a:r>
            <a:r>
              <a:rPr lang="en" u="sng">
                <a:solidFill>
                  <a:schemeClr val="hlink"/>
                </a:solidFill>
                <a:hlinkClick r:id="rId3"/>
              </a:rPr>
              <a:t>FoldingNet</a:t>
            </a:r>
            <a:r>
              <a:rPr lang="en"/>
              <a:t>(2017)”</a:t>
            </a:r>
            <a:endParaRPr/>
          </a:p>
        </p:txBody>
      </p:sp>
      <p:sp>
        <p:nvSpPr>
          <p:cNvPr id="205" name="Google Shape;205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FoldingNet Pipeline</a:t>
            </a:r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13" y="1152477"/>
            <a:ext cx="7914775" cy="32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4"/>
          <p:cNvSpPr txBox="1"/>
          <p:nvPr/>
        </p:nvSpPr>
        <p:spPr>
          <a:xfrm>
            <a:off x="4402100" y="445025"/>
            <a:ext cx="26877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highlight>
                  <a:srgbClr val="FFFF00"/>
                </a:highlight>
              </a:rPr>
              <a:t>Note</a:t>
            </a:r>
            <a:r>
              <a:rPr lang="en" sz="800">
                <a:solidFill>
                  <a:schemeClr val="dk2"/>
                </a:solidFill>
              </a:rPr>
              <a:t>: FoldingNet is an autoencoder architecture. (i.e. encoder → latent vector → decoder)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Graph-based Encoder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concatenation of MLPs and graph-based max pooling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K-NNG = capture local geometry (needed to calculate covariance matrix)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calculating local covariance matrix per every point, vectorize, concatenate with coordinates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shared MLP per every row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graph-based max pooling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forming global representation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Folding-based Decoder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2D grid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repeat codeword generation per every grid point, concatenate with grid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folding = applying same 3-layer MLP to every point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1st folding: 2D grid → coarse 3D surface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concatenate output with codeword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2nd folding: refinement of 3D surface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i.e. codeword guides how to fold into 3D surface (2D grid + codeword → folded 3D surface)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Utilizing FoldingNet</a:t>
            </a:r>
            <a:endParaRPr/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FoldingNet converts missing proxy features(output of the decoder), into 3D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forming a patch per every proxy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concatenate every patch and form missing point cloud estimate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concatenate estimate with the </a:t>
            </a:r>
            <a:r>
              <a:rPr lang="en"/>
              <a:t>incomplete</a:t>
            </a:r>
            <a:r>
              <a:rPr lang="en"/>
              <a:t> input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999" y="445018"/>
            <a:ext cx="3537125" cy="5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 txBox="1"/>
          <p:nvPr/>
        </p:nvSpPr>
        <p:spPr>
          <a:xfrm>
            <a:off x="5467858" y="194613"/>
            <a:ext cx="8340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missing proxy features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5184664" y="736265"/>
            <a:ext cx="8340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FoldingNet decoder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6018684" y="731114"/>
            <a:ext cx="14787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center coordinates generated by query generator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ctrTitle"/>
          </p:nvPr>
        </p:nvSpPr>
        <p:spPr>
          <a:xfrm>
            <a:off x="311708" y="179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6: Optimization</a:t>
            </a:r>
            <a:endParaRPr/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075" y="2458900"/>
            <a:ext cx="592455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8"/>
          <p:cNvSpPr txBox="1"/>
          <p:nvPr/>
        </p:nvSpPr>
        <p:spPr>
          <a:xfrm>
            <a:off x="426300" y="2762425"/>
            <a:ext cx="13161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Chamfer Distance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AdaPoinTr</a:t>
            </a:r>
            <a:r>
              <a:rPr lang="en"/>
              <a:t> Detailed Review</a:t>
            </a:r>
            <a:endParaRPr/>
          </a:p>
        </p:txBody>
      </p:sp>
      <p:sp>
        <p:nvSpPr>
          <p:cNvPr id="247" name="Google Shape;247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PoinTr + adaptive query generation + denoising task / denoising queries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PoinTr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Input point cloud</a:t>
            </a:r>
            <a:r>
              <a:rPr lang="en"/>
              <a:t> and </a:t>
            </a:r>
            <a:r>
              <a:rPr lang="en" u="sng"/>
              <a:t>predicted missing point cloud</a:t>
            </a:r>
            <a:r>
              <a:rPr lang="en"/>
              <a:t> actually come from different sources.(i.e. final point cloud emerges from concatenation)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Motivation: processing k</a:t>
            </a:r>
            <a:r>
              <a:rPr lang="en"/>
              <a:t>nown and missing parts </a:t>
            </a:r>
            <a:r>
              <a:rPr lang="en"/>
              <a:t>together at an earlier stage(at the proxy/query level). (i.e. final point cloud emerges from a single, unified reconstruction process)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known part proxies + missing part proxies → shared reconstruction model → complete point cloud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adaptive query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auxiliary denoising task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Denoising Queries</a:t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0344"/>
            <a:ext cx="9143999" cy="206321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1"/>
          <p:cNvSpPr txBox="1"/>
          <p:nvPr/>
        </p:nvSpPr>
        <p:spPr>
          <a:xfrm>
            <a:off x="6320472" y="2678330"/>
            <a:ext cx="324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!!!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Adaptive Query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 = QI + QO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 = dynamic query bank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QI = queries generated from </a:t>
            </a:r>
            <a:r>
              <a:rPr lang="en">
                <a:highlight>
                  <a:srgbClr val="FFFF00"/>
                </a:highlight>
              </a:rPr>
              <a:t>input point proxies</a:t>
            </a:r>
            <a:r>
              <a:rPr lang="en"/>
              <a:t> F (queries representing the visible part)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QO = queries generated from </a:t>
            </a:r>
            <a:r>
              <a:rPr lang="en">
                <a:highlight>
                  <a:srgbClr val="FFFF00"/>
                </a:highlight>
              </a:rPr>
              <a:t>encoder output</a:t>
            </a:r>
            <a:r>
              <a:rPr lang="en"/>
              <a:t> V (queries as the starting point hypotheses for the missing parts)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scoring module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query embedding → MLP/Linear → scalar score</a:t>
            </a:r>
            <a:endParaRPr/>
          </a:p>
        </p:txBody>
      </p:sp>
      <p:pic>
        <p:nvPicPr>
          <p:cNvPr id="267" name="Google Shape;26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10250"/>
            <a:ext cx="4535276" cy="6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 txBox="1"/>
          <p:nvPr/>
        </p:nvSpPr>
        <p:spPr>
          <a:xfrm>
            <a:off x="5467875" y="278022"/>
            <a:ext cx="6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maxpool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4508324" y="850725"/>
            <a:ext cx="100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query coordinate candidates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70" name="Google Shape;270;p42"/>
          <p:cNvSpPr txBox="1"/>
          <p:nvPr/>
        </p:nvSpPr>
        <p:spPr>
          <a:xfrm>
            <a:off x="5902554" y="147225"/>
            <a:ext cx="69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linear projection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71" name="Google Shape;271;p42"/>
          <p:cNvSpPr txBox="1"/>
          <p:nvPr/>
        </p:nvSpPr>
        <p:spPr>
          <a:xfrm>
            <a:off x="5110550" y="82352"/>
            <a:ext cx="69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coordinate projection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7153699" y="836297"/>
            <a:ext cx="100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MLP to convert into embeddings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Auxiliary Denoising Task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noised query generation: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guarantees</a:t>
            </a:r>
            <a:r>
              <a:rPr lang="en"/>
              <a:t> there are high-quality queries fed into decoder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improves the robustness of the decoder to initial queries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mask for noised queries: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prevent leakage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translation into predicted proxies: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(decoder)  </a:t>
            </a:r>
            <a:endParaRPr/>
          </a:p>
        </p:txBody>
      </p:sp>
      <p:pic>
        <p:nvPicPr>
          <p:cNvPr id="279" name="Google Shape;27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650" y="1152475"/>
            <a:ext cx="2785375" cy="49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9580" y="2326825"/>
            <a:ext cx="259079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8850" y="3207268"/>
            <a:ext cx="2671525" cy="4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3"/>
          <p:cNvSpPr txBox="1"/>
          <p:nvPr/>
        </p:nvSpPr>
        <p:spPr>
          <a:xfrm>
            <a:off x="3950976" y="917490"/>
            <a:ext cx="7137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noisy centers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Proposals</a:t>
            </a:r>
            <a:endParaRPr/>
          </a:p>
        </p:txBody>
      </p:sp>
      <p:sp>
        <p:nvSpPr>
          <p:cNvPr id="288" name="Google Shape;288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Query Generator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AdaPoinTr deterministically generate decoder queries.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AdaPoinTr’s query space as a conditional generative distribution?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partial point cloud + z → adaptive queries → completion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partial point cloud + z₂ → adaptive queries → completion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partial point cloud + z₃ → adaptive queries → completion 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over decoder output</a:t>
            </a:r>
            <a:endParaRPr/>
          </a:p>
        </p:txBody>
      </p:sp>
      <p:sp>
        <p:nvSpPr>
          <p:cNvPr id="300" name="Google Shape;30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proxy representation generative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Proxy-space diffusion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H_t = noisy missing proxy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condition = encoder output V, queries Q, maybe centers 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Denoiser(H_t, V, Q, 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FoldingNet + generative refinement</a:t>
            </a:r>
            <a:endParaRPr/>
          </a:p>
        </p:txBody>
      </p:sp>
      <p:sp>
        <p:nvSpPr>
          <p:cNvPr id="306" name="Google Shape;30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utilizing PoinTr output as a starting point for </a:t>
            </a:r>
            <a:r>
              <a:rPr lang="en"/>
              <a:t>the</a:t>
            </a:r>
            <a:r>
              <a:rPr lang="en"/>
              <a:t> diffusion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(PoinTr as the guide)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denoiser(x_t, condition, 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condition = partial point cloud + PoinTr coarse completion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in the Completion-Diffusion Direction</a:t>
            </a:r>
            <a:endParaRPr/>
          </a:p>
        </p:txBody>
      </p:sp>
      <p:sp>
        <p:nvSpPr>
          <p:cNvPr id="312" name="Google Shape;312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7973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PDR(2022)</a:t>
            </a:r>
            <a:endParaRPr/>
          </a:p>
          <a:p>
            <a:pPr indent="-37973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PVD(2021)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PDR</a:t>
            </a:r>
            <a:r>
              <a:rPr lang="en"/>
              <a:t> Review</a:t>
            </a:r>
            <a:endParaRPr/>
          </a:p>
        </p:txBody>
      </p:sp>
      <p:sp>
        <p:nvSpPr>
          <p:cNvPr id="318" name="Google Shape;318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PDR Pipeline</a:t>
            </a:r>
            <a:endParaRPr/>
          </a:p>
        </p:txBody>
      </p:sp>
      <p:pic>
        <p:nvPicPr>
          <p:cNvPr id="324" name="Google Shape;3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75" y="1596577"/>
            <a:ext cx="7738850" cy="17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PVD</a:t>
            </a:r>
            <a:r>
              <a:rPr lang="en"/>
              <a:t> Review</a:t>
            </a:r>
            <a:endParaRPr/>
          </a:p>
        </p:txBody>
      </p:sp>
      <p:sp>
        <p:nvSpPr>
          <p:cNvPr id="330" name="Google Shape;330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PVD Flow</a:t>
            </a:r>
            <a:endParaRPr/>
          </a:p>
        </p:txBody>
      </p:sp>
      <p:pic>
        <p:nvPicPr>
          <p:cNvPr id="336" name="Google Shape;3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662" y="1316277"/>
            <a:ext cx="7448676" cy="308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